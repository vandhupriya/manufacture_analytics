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34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hu N" userId="513b9bfd2895f7d4" providerId="LiveId" clId="{20E44E55-FA20-4550-BAC4-3E0AF53B7949}"/>
    <pc:docChg chg="custSel modSld">
      <pc:chgData name="Vandhu N" userId="513b9bfd2895f7d4" providerId="LiveId" clId="{20E44E55-FA20-4550-BAC4-3E0AF53B7949}" dt="2025-11-11T13:42:23.966" v="6" actId="1076"/>
      <pc:docMkLst>
        <pc:docMk/>
      </pc:docMkLst>
      <pc:sldChg chg="delSp modSp mod">
        <pc:chgData name="Vandhu N" userId="513b9bfd2895f7d4" providerId="LiveId" clId="{20E44E55-FA20-4550-BAC4-3E0AF53B7949}" dt="2025-11-11T13:42:23.966" v="6" actId="1076"/>
        <pc:sldMkLst>
          <pc:docMk/>
          <pc:sldMk cId="1990881570" sldId="257"/>
        </pc:sldMkLst>
        <pc:spChg chg="mod">
          <ac:chgData name="Vandhu N" userId="513b9bfd2895f7d4" providerId="LiveId" clId="{20E44E55-FA20-4550-BAC4-3E0AF53B7949}" dt="2025-11-11T13:42:23.966" v="6" actId="1076"/>
          <ac:spMkLst>
            <pc:docMk/>
            <pc:sldMk cId="1990881570" sldId="257"/>
            <ac:spMk id="8" creationId="{297BCDD8-17FC-598B-1619-C7A4C74043D0}"/>
          </ac:spMkLst>
        </pc:spChg>
        <pc:spChg chg="del">
          <ac:chgData name="Vandhu N" userId="513b9bfd2895f7d4" providerId="LiveId" clId="{20E44E55-FA20-4550-BAC4-3E0AF53B7949}" dt="2025-11-11T13:40:44.559" v="0" actId="21"/>
          <ac:spMkLst>
            <pc:docMk/>
            <pc:sldMk cId="1990881570" sldId="257"/>
            <ac:spMk id="12" creationId="{552D7686-8D0F-F73C-34EE-E6D3580FA34B}"/>
          </ac:spMkLst>
        </pc:spChg>
        <pc:picChg chg="del">
          <ac:chgData name="Vandhu N" userId="513b9bfd2895f7d4" providerId="LiveId" clId="{20E44E55-FA20-4550-BAC4-3E0AF53B7949}" dt="2025-11-11T13:41:41.749" v="1" actId="21"/>
          <ac:picMkLst>
            <pc:docMk/>
            <pc:sldMk cId="1990881570" sldId="257"/>
            <ac:picMk id="11" creationId="{E06879B5-66C1-4A59-990E-BD5290D34B2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C2751-278C-4682-9C3F-0FF7B4FCFAE7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86890-466E-41CD-A28A-B1EBDF22CA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942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F0845-D09E-4AF9-9623-EA7EA0297EF3}" type="datetimeFigureOut">
              <a:rPr lang="en-US" smtClean="0"/>
              <a:t>11/11/2025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D11A-EED3-40CE-98A3-28FEE84867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160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36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9693A-2307-4FDC-9539-08DC9083DDE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0E1C1-C26F-4479-A8BD-144B4C139DA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94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515600" cy="2862262"/>
          </a:xfrm>
        </p:spPr>
        <p:txBody>
          <a:bodyPr anchor="b"/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515600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19E61-C2D6-49AB-83F2-8FC9FEFBDAFD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27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aseline="0" noProof="0" dirty="0" smtClean="0">
                <a:solidFill>
                  <a:schemeClr val="bg1"/>
                </a:solidFill>
              </a:defRPr>
            </a:lvl1pPr>
            <a:lvl2pPr>
              <a:defRPr lang="en-US" baseline="0" noProof="0" dirty="0" smtClean="0">
                <a:solidFill>
                  <a:schemeClr val="bg1"/>
                </a:solidFill>
              </a:defRPr>
            </a:lvl2pPr>
            <a:lvl3pPr>
              <a:defRPr lang="en-US" baseline="0" noProof="0" dirty="0" smtClean="0">
                <a:solidFill>
                  <a:schemeClr val="bg1"/>
                </a:solidFill>
              </a:defRPr>
            </a:lvl3pPr>
            <a:lvl4pPr>
              <a:defRPr lang="en-US" baseline="0" noProof="0" dirty="0" smtClean="0">
                <a:solidFill>
                  <a:schemeClr val="bg1"/>
                </a:solidFill>
              </a:defRPr>
            </a:lvl4pPr>
            <a:lvl5pPr>
              <a:defRPr lang="en-US" baseline="0" noProof="0" dirty="0" smtClean="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650524" y="1825625"/>
            <a:ext cx="489204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BE74F-367A-4D3C-8AA7-FA60CCA05EA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150"/>
            <a:ext cx="10094976" cy="11521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753" y="1828800"/>
            <a:ext cx="489204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656753" y="2498723"/>
            <a:ext cx="4892040" cy="31019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E3F9C-6465-4987-8E4E-615CFD4753AA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6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EFD6-3C20-43C6-9E75-1A9D48D9576F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85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93D5A-A484-46EE-9DC8-9A16BFF8327E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60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987425"/>
            <a:ext cx="5753100" cy="461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noProof="0" dirty="0" smtClean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9E5DC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87BC8-78D1-4FEB-9D4F-E22E45CC04F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7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59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800600" y="987425"/>
            <a:ext cx="5753100" cy="46132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254249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68210-870C-4A62-9D1B-4B25162550AB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11EA7-B10E-4739-92FE-8993461CC0B7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42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91661"/>
            <a:ext cx="2628900" cy="4909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91661"/>
            <a:ext cx="7734300" cy="4909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DC13F-2D2A-49BA-966D-6530A12E7C1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29C50-D6F1-4DB6-9B68-F4CD3996E9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39793"/>
            <a:ext cx="10096500" cy="1150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096500" cy="3778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0CABDA2-EB00-4A4D-86B7-63E286A484E5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5B29C50-D6F1-4DB6-9B68-F4CD3996E9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8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b="1" kern="1200" cap="none" spc="0">
          <a:ln w="12700" cmpd="sng">
            <a:noFill/>
            <a:prstDash val="solid"/>
          </a:ln>
          <a:solidFill>
            <a:schemeClr val="accent4">
              <a:lumMod val="50000"/>
            </a:schemeClr>
          </a:solidFill>
          <a:effectLst>
            <a:outerShdw blurRad="38100" dist="38100" dir="2700000" algn="tl">
              <a:srgbClr val="000000">
                <a:alpha val="43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bg1"/>
        </a:buClr>
        <a:buSzPct val="7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pos="288" userDrawn="1">
          <p15:clr>
            <a:srgbClr val="F26B43"/>
          </p15:clr>
        </p15:guide>
        <p15:guide id="3" pos="6648" userDrawn="1">
          <p15:clr>
            <a:srgbClr val="F26B43"/>
          </p15:clr>
        </p15:guide>
        <p15:guide id="4" orient="horz" pos="3528" userDrawn="1">
          <p15:clr>
            <a:srgbClr val="F26B43"/>
          </p15:clr>
        </p15:guide>
        <p15:guide id="5" orient="horz" pos="1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7BCDD8-17FC-598B-1619-C7A4C74043D0}"/>
              </a:ext>
            </a:extLst>
          </p:cNvPr>
          <p:cNvSpPr txBox="1"/>
          <p:nvPr/>
        </p:nvSpPr>
        <p:spPr>
          <a:xfrm>
            <a:off x="794657" y="2615625"/>
            <a:ext cx="10857139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MANUFACTURE ANALYTICS</a:t>
            </a:r>
            <a:endParaRPr lang="en-IN" sz="6000" b="1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1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42897-043F-C26C-3FF5-F6CACA40B361}"/>
              </a:ext>
            </a:extLst>
          </p:cNvPr>
          <p:cNvSpPr txBox="1"/>
          <p:nvPr/>
        </p:nvSpPr>
        <p:spPr>
          <a:xfrm>
            <a:off x="5096367" y="0"/>
            <a:ext cx="251863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6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D7210-A932-4E61-8591-69CEBB942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348" y="999610"/>
            <a:ext cx="2026018" cy="20260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B722BD-5484-41A6-81C7-9735717F2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643" y="999610"/>
            <a:ext cx="3886200" cy="20260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0CA69-AAA1-4E74-AD8F-EA78CC7F1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760" y="3261381"/>
            <a:ext cx="3908083" cy="1859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892FBA-552B-4621-9227-50C39A6A8C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349" y="3261382"/>
            <a:ext cx="2026018" cy="18592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E8586E-C7C5-A647-1C7D-F448BA13263A}"/>
              </a:ext>
            </a:extLst>
          </p:cNvPr>
          <p:cNvSpPr txBox="1"/>
          <p:nvPr/>
        </p:nvSpPr>
        <p:spPr>
          <a:xfrm>
            <a:off x="498157" y="1363634"/>
            <a:ext cx="1648208" cy="33239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</a:t>
            </a:r>
            <a:endParaRPr lang="en-IN" sz="30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8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A81AB0-02EA-5088-F243-2285699D67D0}"/>
              </a:ext>
            </a:extLst>
          </p:cNvPr>
          <p:cNvSpPr txBox="1"/>
          <p:nvPr/>
        </p:nvSpPr>
        <p:spPr>
          <a:xfrm>
            <a:off x="4431859" y="22860"/>
            <a:ext cx="4082656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780F8-7257-B25A-3D6C-542AB5744662}"/>
              </a:ext>
            </a:extLst>
          </p:cNvPr>
          <p:cNvSpPr txBox="1"/>
          <p:nvPr/>
        </p:nvSpPr>
        <p:spPr>
          <a:xfrm>
            <a:off x="0" y="553998"/>
            <a:ext cx="12192000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the data analysis and visualization project in 3 phases.</a:t>
            </a:r>
          </a:p>
          <a:p>
            <a:pPr algn="ctr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Excel dashboard – data cleaning, merging, and visualization.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Pivot-based report with filters (Date, Dept, Machine, Employee) showing KPIs — Production, Rejection &amp; Efficiency trends for daily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5D8FDC0B-B730-4EAB-8496-D4A149CA4CF0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37" y="2466678"/>
            <a:ext cx="10401299" cy="425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37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16C9234-A139-D998-E01B-F082A3326EDA}"/>
              </a:ext>
            </a:extLst>
          </p:cNvPr>
          <p:cNvSpPr txBox="1"/>
          <p:nvPr/>
        </p:nvSpPr>
        <p:spPr>
          <a:xfrm>
            <a:off x="180022" y="796975"/>
            <a:ext cx="11204257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Power BI and Tableau dashboards for trend analysis and performance tracking.</a:t>
            </a:r>
          </a:p>
        </p:txBody>
      </p:sp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61E4D80B-3F91-473E-9DBB-4E4A1D4145BE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2040756"/>
            <a:ext cx="10584179" cy="44502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22F6E3-CCB2-6C30-E2F1-E335D7BE5930}"/>
              </a:ext>
            </a:extLst>
          </p:cNvPr>
          <p:cNvSpPr txBox="1"/>
          <p:nvPr/>
        </p:nvSpPr>
        <p:spPr>
          <a:xfrm>
            <a:off x="4564651" y="1460832"/>
            <a:ext cx="3062698" cy="4770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065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6534F0FD-5FFF-449A-93F5-7B9CAD045AE5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639" y="1357164"/>
            <a:ext cx="10176934" cy="50437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1E0541-E8A8-5E19-1714-A33C19ABEFC9}"/>
              </a:ext>
            </a:extLst>
          </p:cNvPr>
          <p:cNvSpPr txBox="1"/>
          <p:nvPr/>
        </p:nvSpPr>
        <p:spPr>
          <a:xfrm>
            <a:off x="214312" y="865555"/>
            <a:ext cx="9226867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2F6B05-7667-4F18-EAB7-4BD357E30141}"/>
              </a:ext>
            </a:extLst>
          </p:cNvPr>
          <p:cNvSpPr txBox="1"/>
          <p:nvPr/>
        </p:nvSpPr>
        <p:spPr>
          <a:xfrm>
            <a:off x="4827745" y="804833"/>
            <a:ext cx="2870722" cy="4770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sz="25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06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F62411D-8753-B8A6-AC75-638BA72BC506}"/>
              </a:ext>
            </a:extLst>
          </p:cNvPr>
          <p:cNvSpPr txBox="1"/>
          <p:nvPr/>
        </p:nvSpPr>
        <p:spPr>
          <a:xfrm>
            <a:off x="317182" y="842695"/>
            <a:ext cx="9592627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SQL KPIs for extracting insights directly from the database.</a:t>
            </a:r>
          </a:p>
        </p:txBody>
      </p:sp>
      <p:pic>
        <p:nvPicPr>
          <p:cNvPr id="7" name="Content Placeholder 8">
            <a:extLst>
              <a:ext uri="{FF2B5EF4-FFF2-40B4-BE49-F238E27FC236}">
                <a16:creationId xmlns:a16="http://schemas.microsoft.com/office/drawing/2014/main" id="{5AAF6850-52B0-4588-BF6E-FCAF7D206155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" y="1637714"/>
            <a:ext cx="10104120" cy="462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21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D790B-2647-1297-988F-AA77DB18EF8D}"/>
              </a:ext>
            </a:extLst>
          </p:cNvPr>
          <p:cNvSpPr txBox="1"/>
          <p:nvPr/>
        </p:nvSpPr>
        <p:spPr>
          <a:xfrm>
            <a:off x="4565773" y="0"/>
            <a:ext cx="3060453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48DFB-EF2B-E592-ED19-FDA3B0967EA8}"/>
              </a:ext>
            </a:extLst>
          </p:cNvPr>
          <p:cNvSpPr txBox="1"/>
          <p:nvPr/>
        </p:nvSpPr>
        <p:spPr>
          <a:xfrm>
            <a:off x="240030" y="882149"/>
            <a:ext cx="8826455" cy="509370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 time data flow and connections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Facing confusion while linking multiple sheets in one dashboard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blank visuals due to wrong data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wrong totals due to incorrect aggregation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Facing confusion while choosing chart types for comparison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space properly for both charts and insights text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summarizing large data into short insights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34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C24D12-F558-27CE-B859-2B3D1D6B6083}"/>
              </a:ext>
            </a:extLst>
          </p:cNvPr>
          <p:cNvSpPr txBox="1"/>
          <p:nvPr/>
        </p:nvSpPr>
        <p:spPr>
          <a:xfrm>
            <a:off x="5245446" y="91440"/>
            <a:ext cx="1701107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BEBA27-C986-7C47-3AB9-9E2AB52EF03A}"/>
              </a:ext>
            </a:extLst>
          </p:cNvPr>
          <p:cNvSpPr txBox="1"/>
          <p:nvPr/>
        </p:nvSpPr>
        <p:spPr>
          <a:xfrm>
            <a:off x="262891" y="891540"/>
            <a:ext cx="11732594" cy="509370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messy data before adding to the dashboard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checked every link to avoid data confusion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Tried different layouts until the dashboard looked clear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Took team feedback to improve the chart and  insights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handled all challenges through teamwork, continuous testing, and smart design choices, which made the dashboard accurate, clear, and easy to understand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6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9A6A5A-BEEA-CEF6-6B03-75FAA9C0F52E}"/>
              </a:ext>
            </a:extLst>
          </p:cNvPr>
          <p:cNvSpPr txBox="1"/>
          <p:nvPr/>
        </p:nvSpPr>
        <p:spPr>
          <a:xfrm>
            <a:off x="3451686" y="0"/>
            <a:ext cx="5288627" cy="5539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IN" sz="3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96D06-18B2-3CC5-5243-14131E449964}"/>
              </a:ext>
            </a:extLst>
          </p:cNvPr>
          <p:cNvSpPr txBox="1"/>
          <p:nvPr/>
        </p:nvSpPr>
        <p:spPr>
          <a:xfrm>
            <a:off x="178067" y="681589"/>
            <a:ext cx="235865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9E73C7-F6CB-BD88-54E5-EBEB46F289ED}"/>
              </a:ext>
            </a:extLst>
          </p:cNvPr>
          <p:cNvSpPr txBox="1"/>
          <p:nvPr/>
        </p:nvSpPr>
        <p:spPr>
          <a:xfrm>
            <a:off x="178066" y="1492865"/>
            <a:ext cx="11754853" cy="393954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quick decision-making with clear visuals.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combining all data in one place.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track production and employee performance.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errors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updates improve accuracy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395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92469-97A0-2A4E-6D0D-1A92EDA6A2BC}"/>
              </a:ext>
            </a:extLst>
          </p:cNvPr>
          <p:cNvSpPr txBox="1"/>
          <p:nvPr/>
        </p:nvSpPr>
        <p:spPr>
          <a:xfrm>
            <a:off x="0" y="619432"/>
            <a:ext cx="240001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8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B98B2-CC06-C10A-ED22-42DE5E560EC0}"/>
              </a:ext>
            </a:extLst>
          </p:cNvPr>
          <p:cNvSpPr txBox="1"/>
          <p:nvPr/>
        </p:nvSpPr>
        <p:spPr>
          <a:xfrm>
            <a:off x="0" y="1460371"/>
            <a:ext cx="10205884" cy="43242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time to clean and prepare data.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Mistakes in linking sheets can give wrong results.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may slow down the dashboard.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find small errors in large datasets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mistakes can change the whole dashboard result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64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1BBF0B-B11F-1717-DC35-801CD71969E9}"/>
              </a:ext>
            </a:extLst>
          </p:cNvPr>
          <p:cNvSpPr txBox="1"/>
          <p:nvPr/>
        </p:nvSpPr>
        <p:spPr>
          <a:xfrm>
            <a:off x="113071" y="3175452"/>
            <a:ext cx="11965858" cy="86177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000" b="1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147939"/>
      </p:ext>
    </p:extLst>
  </p:cSld>
  <p:clrMapOvr>
    <a:masterClrMapping/>
  </p:clrMapOvr>
</p:sld>
</file>

<file path=ppt/theme/theme1.xml><?xml version="1.0" encoding="utf-8"?>
<a:theme xmlns:a="http://schemas.openxmlformats.org/drawingml/2006/main" name="Vertical Lexicon design 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dirty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  <a:ln>
          <a:solidFill>
            <a:schemeClr val="tx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lexicon design slides.potx" id="{49C7086D-B6BF-42C9-B2E9-7A6F5A963EAA}" vid="{839E83B1-FF0C-49E8-8563-59D864F05AE3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05EEE0F9-7BC9-4998-8617-7CC115AD97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EBB951-DE64-4CB8-9E1C-184A357AD7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1BD8E5-A18E-435C-B431-90A6B59F4B6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Vertical lexicon design slides</Template>
  <TotalTime>196</TotalTime>
  <Words>303</Words>
  <Application>Microsoft Office PowerPoint</Application>
  <PresentationFormat>Widescreen</PresentationFormat>
  <Paragraphs>67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Vertical Lexicon design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amruth.r003@gmail.com</dc:creator>
  <cp:lastModifiedBy>Vandhu N</cp:lastModifiedBy>
  <cp:revision>3</cp:revision>
  <dcterms:created xsi:type="dcterms:W3CDTF">2025-10-28T14:57:04Z</dcterms:created>
  <dcterms:modified xsi:type="dcterms:W3CDTF">2025-11-11T13:42:31Z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